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7" r:id="rId4"/>
    <p:sldId id="258" r:id="rId5"/>
    <p:sldId id="260" r:id="rId6"/>
    <p:sldId id="261" r:id="rId7"/>
    <p:sldId id="259" r:id="rId8"/>
    <p:sldId id="262" r:id="rId9"/>
    <p:sldId id="269" r:id="rId10"/>
    <p:sldId id="268" r:id="rId11"/>
    <p:sldId id="274" r:id="rId12"/>
    <p:sldId id="275" r:id="rId13"/>
    <p:sldId id="276" r:id="rId14"/>
    <p:sldId id="278" r:id="rId15"/>
    <p:sldId id="279" r:id="rId16"/>
    <p:sldId id="283" r:id="rId17"/>
    <p:sldId id="280" r:id="rId18"/>
    <p:sldId id="281" r:id="rId19"/>
    <p:sldId id="263" r:id="rId20"/>
    <p:sldId id="270" r:id="rId21"/>
    <p:sldId id="265" r:id="rId22"/>
    <p:sldId id="282" r:id="rId23"/>
  </p:sldIdLst>
  <p:sldSz cx="12192000" cy="6858000"/>
  <p:notesSz cx="6858000" cy="12192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Libre Baskerville" panose="020B0604020202020204" charset="0"/>
      <p:regular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Open Sans Bold" panose="020B0806030504020204" charset="0"/>
      <p:regular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atul Ferdous Shanta" userId="1cf18ae29c2a4610" providerId="LiveId" clId="{C7621DCF-FC3D-4AC3-82AA-352FC47BCD78}"/>
    <pc:docChg chg="addSld delSld modSld">
      <pc:chgData name="Jannatul Ferdous Shanta" userId="1cf18ae29c2a4610" providerId="LiveId" clId="{C7621DCF-FC3D-4AC3-82AA-352FC47BCD78}" dt="2026-08-28T13:33:35.891" v="51" actId="20577"/>
      <pc:docMkLst>
        <pc:docMk/>
      </pc:docMkLst>
      <pc:sldChg chg="modSp mod">
        <pc:chgData name="Jannatul Ferdous Shanta" userId="1cf18ae29c2a4610" providerId="LiveId" clId="{C7621DCF-FC3D-4AC3-82AA-352FC47BCD78}" dt="2026-08-28T13:13:09.449" v="1" actId="20577"/>
        <pc:sldMkLst>
          <pc:docMk/>
          <pc:sldMk cId="0" sldId="256"/>
        </pc:sldMkLst>
        <pc:spChg chg="mod">
          <ac:chgData name="Jannatul Ferdous Shanta" userId="1cf18ae29c2a4610" providerId="LiveId" clId="{C7621DCF-FC3D-4AC3-82AA-352FC47BCD78}" dt="2026-08-28T13:13:09.449" v="1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Jannatul Ferdous Shanta" userId="1cf18ae29c2a4610" providerId="LiveId" clId="{C7621DCF-FC3D-4AC3-82AA-352FC47BCD78}" dt="2026-08-28T13:32:22.561" v="14" actId="20577"/>
        <pc:sldMkLst>
          <pc:docMk/>
          <pc:sldMk cId="0" sldId="263"/>
        </pc:sldMkLst>
        <pc:spChg chg="mod">
          <ac:chgData name="Jannatul Ferdous Shanta" userId="1cf18ae29c2a4610" providerId="LiveId" clId="{C7621DCF-FC3D-4AC3-82AA-352FC47BCD78}" dt="2026-08-28T13:32:22.561" v="14" actId="20577"/>
          <ac:spMkLst>
            <pc:docMk/>
            <pc:sldMk cId="0" sldId="263"/>
            <ac:spMk id="26" creationId="{2092CFE4-162B-4989-812B-20AB02668957}"/>
          </ac:spMkLst>
        </pc:spChg>
      </pc:sldChg>
      <pc:sldChg chg="modSp mod">
        <pc:chgData name="Jannatul Ferdous Shanta" userId="1cf18ae29c2a4610" providerId="LiveId" clId="{C7621DCF-FC3D-4AC3-82AA-352FC47BCD78}" dt="2026-08-28T13:32:34.889" v="20" actId="20577"/>
        <pc:sldMkLst>
          <pc:docMk/>
          <pc:sldMk cId="0" sldId="265"/>
        </pc:sldMkLst>
        <pc:spChg chg="mod">
          <ac:chgData name="Jannatul Ferdous Shanta" userId="1cf18ae29c2a4610" providerId="LiveId" clId="{C7621DCF-FC3D-4AC3-82AA-352FC47BCD78}" dt="2026-08-28T13:32:34.889" v="20" actId="20577"/>
          <ac:spMkLst>
            <pc:docMk/>
            <pc:sldMk cId="0" sldId="265"/>
            <ac:spMk id="28" creationId="{8BBEE89A-EA38-4BD2-96CF-56652C392DA8}"/>
          </ac:spMkLst>
        </pc:spChg>
      </pc:sldChg>
      <pc:sldChg chg="modSp mod">
        <pc:chgData name="Jannatul Ferdous Shanta" userId="1cf18ae29c2a4610" providerId="LiveId" clId="{C7621DCF-FC3D-4AC3-82AA-352FC47BCD78}" dt="2026-08-28T13:32:29.939" v="18" actId="20577"/>
        <pc:sldMkLst>
          <pc:docMk/>
          <pc:sldMk cId="0" sldId="270"/>
        </pc:sldMkLst>
        <pc:spChg chg="mod">
          <ac:chgData name="Jannatul Ferdous Shanta" userId="1cf18ae29c2a4610" providerId="LiveId" clId="{C7621DCF-FC3D-4AC3-82AA-352FC47BCD78}" dt="2026-08-28T13:32:29.939" v="18" actId="20577"/>
          <ac:spMkLst>
            <pc:docMk/>
            <pc:sldMk cId="0" sldId="270"/>
            <ac:spMk id="35" creationId="{00000000-0000-0000-0000-000000000000}"/>
          </ac:spMkLst>
        </pc:spChg>
      </pc:sldChg>
      <pc:sldChg chg="modSp mod">
        <pc:chgData name="Jannatul Ferdous Shanta" userId="1cf18ae29c2a4610" providerId="LiveId" clId="{C7621DCF-FC3D-4AC3-82AA-352FC47BCD78}" dt="2026-08-28T13:32:12.826" v="10" actId="20577"/>
        <pc:sldMkLst>
          <pc:docMk/>
          <pc:sldMk cId="0" sldId="280"/>
        </pc:sldMkLst>
        <pc:spChg chg="mod">
          <ac:chgData name="Jannatul Ferdous Shanta" userId="1cf18ae29c2a4610" providerId="LiveId" clId="{C7621DCF-FC3D-4AC3-82AA-352FC47BCD78}" dt="2026-08-28T13:32:12.826" v="10" actId="20577"/>
          <ac:spMkLst>
            <pc:docMk/>
            <pc:sldMk cId="0" sldId="280"/>
            <ac:spMk id="21" creationId="{B22A342D-A94B-4FDD-81D3-02FE2A83C8E4}"/>
          </ac:spMkLst>
        </pc:spChg>
      </pc:sldChg>
      <pc:sldChg chg="modSp mod">
        <pc:chgData name="Jannatul Ferdous Shanta" userId="1cf18ae29c2a4610" providerId="LiveId" clId="{C7621DCF-FC3D-4AC3-82AA-352FC47BCD78}" dt="2026-08-28T13:32:17.453" v="12" actId="20577"/>
        <pc:sldMkLst>
          <pc:docMk/>
          <pc:sldMk cId="0" sldId="281"/>
        </pc:sldMkLst>
        <pc:spChg chg="mod">
          <ac:chgData name="Jannatul Ferdous Shanta" userId="1cf18ae29c2a4610" providerId="LiveId" clId="{C7621DCF-FC3D-4AC3-82AA-352FC47BCD78}" dt="2026-08-28T13:32:17.453" v="12" actId="20577"/>
          <ac:spMkLst>
            <pc:docMk/>
            <pc:sldMk cId="0" sldId="281"/>
            <ac:spMk id="19" creationId="{981AD890-3A3F-4294-AF3C-70D27DF7CE4F}"/>
          </ac:spMkLst>
        </pc:spChg>
      </pc:sldChg>
      <pc:sldChg chg="addSp modSp new mod">
        <pc:chgData name="Jannatul Ferdous Shanta" userId="1cf18ae29c2a4610" providerId="LiveId" clId="{C7621DCF-FC3D-4AC3-82AA-352FC47BCD78}" dt="2026-08-28T13:33:35.891" v="51" actId="20577"/>
        <pc:sldMkLst>
          <pc:docMk/>
          <pc:sldMk cId="490631106" sldId="283"/>
        </pc:sldMkLst>
        <pc:spChg chg="add mod">
          <ac:chgData name="Jannatul Ferdous Shanta" userId="1cf18ae29c2a4610" providerId="LiveId" clId="{C7621DCF-FC3D-4AC3-82AA-352FC47BCD78}" dt="2026-08-28T13:33:15.264" v="48" actId="20577"/>
          <ac:spMkLst>
            <pc:docMk/>
            <pc:sldMk cId="490631106" sldId="283"/>
            <ac:spMk id="4" creationId="{69666097-0C3C-4491-B7B1-903AB248C5BA}"/>
          </ac:spMkLst>
        </pc:spChg>
        <pc:spChg chg="add mod">
          <ac:chgData name="Jannatul Ferdous Shanta" userId="1cf18ae29c2a4610" providerId="LiveId" clId="{C7621DCF-FC3D-4AC3-82AA-352FC47BCD78}" dt="2026-08-28T13:33:35.891" v="51" actId="20577"/>
          <ac:spMkLst>
            <pc:docMk/>
            <pc:sldMk cId="490631106" sldId="283"/>
            <ac:spMk id="5" creationId="{122B1BF9-2270-418E-A2C9-8CB2E7C8709F}"/>
          </ac:spMkLst>
        </pc:spChg>
        <pc:picChg chg="add mod">
          <ac:chgData name="Jannatul Ferdous Shanta" userId="1cf18ae29c2a4610" providerId="LiveId" clId="{C7621DCF-FC3D-4AC3-82AA-352FC47BCD78}" dt="2026-08-28T13:32:57.234" v="22" actId="1076"/>
          <ac:picMkLst>
            <pc:docMk/>
            <pc:sldMk cId="490631106" sldId="283"/>
            <ac:picMk id="3" creationId="{E86CBC46-5B11-4715-ADE7-67B9613DD590}"/>
          </ac:picMkLst>
        </pc:picChg>
      </pc:sldChg>
      <pc:sldChg chg="addSp modSp new del mod">
        <pc:chgData name="Jannatul Ferdous Shanta" userId="1cf18ae29c2a4610" providerId="LiveId" clId="{C7621DCF-FC3D-4AC3-82AA-352FC47BCD78}" dt="2026-08-28T13:16:20.800" v="5" actId="2696"/>
        <pc:sldMkLst>
          <pc:docMk/>
          <pc:sldMk cId="2839231739" sldId="283"/>
        </pc:sldMkLst>
        <pc:picChg chg="add mod">
          <ac:chgData name="Jannatul Ferdous Shanta" userId="1cf18ae29c2a4610" providerId="LiveId" clId="{C7621DCF-FC3D-4AC3-82AA-352FC47BCD78}" dt="2026-08-28T13:14:51.720" v="4" actId="14100"/>
          <ac:picMkLst>
            <pc:docMk/>
            <pc:sldMk cId="2839231739" sldId="283"/>
            <ac:picMk id="3" creationId="{9B1C2363-8911-4FFA-AB1B-BF3A08F333B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1222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XGBoost</c:v>
                </c:pt>
                <c:pt idx="2">
                  <c:v>Grad. Boost</c:v>
                </c:pt>
                <c:pt idx="3">
                  <c:v>MLP</c:v>
                </c:pt>
                <c:pt idx="4">
                  <c:v>LightGBM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0.78449999999999998</c:v>
                </c:pt>
                <c:pt idx="1">
                  <c:v>0.77439999999999998</c:v>
                </c:pt>
                <c:pt idx="2">
                  <c:v>0.76439999999999997</c:v>
                </c:pt>
                <c:pt idx="3">
                  <c:v>0.76190000000000002</c:v>
                </c:pt>
                <c:pt idx="4">
                  <c:v>0.76690000000000003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0-46A8-ACFE-DFA6EB8F02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1222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XGBoost</c:v>
                </c:pt>
                <c:pt idx="2">
                  <c:v>Grad. Boost</c:v>
                </c:pt>
                <c:pt idx="3">
                  <c:v>MLP</c:v>
                </c:pt>
                <c:pt idx="4">
                  <c:v>LightGBM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0.60489999999999999</c:v>
                </c:pt>
                <c:pt idx="1">
                  <c:v>0.59809999999999997</c:v>
                </c:pt>
                <c:pt idx="2">
                  <c:v>0.58660000000000001</c:v>
                </c:pt>
                <c:pt idx="3">
                  <c:v>0.57940000000000003</c:v>
                </c:pt>
                <c:pt idx="4">
                  <c:v>0.57720000000000005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90-46A8-ACFE-DFA6EB8F02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C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829887555039228"/>
          <c:y val="0.1044264557778443"/>
          <c:w val="0.84576305523285"/>
          <c:h val="0.785844766231629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9AD6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10-4137-9C12-48C27217D56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10-4137-9C12-48C27217D56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610-4137-9C12-48C27217D56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610-4137-9C12-48C27217D56B}"/>
              </c:ext>
            </c:extLst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10-4137-9C12-48C27217D56B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Log. Reg.</c:v>
                </c:pt>
                <c:pt idx="1">
                  <c:v>Grad. Boost.</c:v>
                </c:pt>
                <c:pt idx="2">
                  <c:v>SVM (RBF)</c:v>
                </c:pt>
                <c:pt idx="3">
                  <c:v>Rand. Forest</c:v>
                </c:pt>
                <c:pt idx="4">
                  <c:v>Improved CNN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0.51300000000000001</c:v>
                </c:pt>
                <c:pt idx="1">
                  <c:v>0.504</c:v>
                </c:pt>
                <c:pt idx="2">
                  <c:v>0.40100000000000002</c:v>
                </c:pt>
                <c:pt idx="3">
                  <c:v>0.40400000000000003</c:v>
                </c:pt>
                <c:pt idx="4">
                  <c:v>0.52400000000000002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610-4137-9C12-48C27217D5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</c:scaling>
        <c:delete val="0"/>
        <c:axPos val="l"/>
        <c:majorGridlines>
          <c:spPr>
            <a:ln w="9525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(CNN)</c:v>
                </c:pt>
                <c:pt idx="1">
                  <c:v>First GNN
(A0)</c:v>
                </c:pt>
                <c:pt idx="2">
                  <c:v>Final GNN
(A3)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0.78700000000000003</c:v>
                </c:pt>
                <c:pt idx="1">
                  <c:v>0.69699999999999995</c:v>
                </c:pt>
                <c:pt idx="2">
                  <c:v>0.80300000000000005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D-46C5-9588-A84D11CBFB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0A2E3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(CNN)</c:v>
                </c:pt>
                <c:pt idx="1">
                  <c:v>First GNN
(A0)</c:v>
                </c:pt>
                <c:pt idx="2">
                  <c:v>Final GNN
(A3)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0.52400000000000002</c:v>
                </c:pt>
                <c:pt idx="1">
                  <c:v>0.28100000000000003</c:v>
                </c:pt>
                <c:pt idx="2">
                  <c:v>0.53100000000000003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3D-46C5-9588-A84D11CBFB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</c:scaling>
        <c:delete val="0"/>
        <c:axPos val="l"/>
        <c:majorGridlines>
          <c:spPr>
            <a:ln w="9525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5C73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F9-4710-92F7-B9F42382F94E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F9-4710-92F7-B9F42382F94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
(CNN)</c:v>
                </c:pt>
                <c:pt idx="1">
                  <c:v>Final GNN
(A3)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0.61699999999999999</c:v>
                </c:pt>
                <c:pt idx="1">
                  <c:v>0.61899999999999999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F9-4710-92F7-B9F42382F9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</c:scaling>
        <c:delete val="0"/>
        <c:axPos val="l"/>
        <c:majorGridlines>
          <c:spPr>
            <a:ln w="9525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53-426C-9FDA-2D37F334751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53-426C-9FDA-2D37F3347510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53-426C-9FDA-2D37F3347510}"/>
              </c:ext>
            </c:extLst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53-426C-9FDA-2D37F3347510}"/>
              </c:ext>
            </c:extLst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853-426C-9FDA-2D37F3347510}"/>
              </c:ext>
            </c:extLst>
          </c:dPt>
          <c:dPt>
            <c:idx val="5"/>
            <c:invertIfNegative val="0"/>
            <c:bubble3D val="0"/>
            <c:spPr>
              <a:solidFill>
                <a:srgbClr val="E155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853-426C-9FDA-2D37F3347510}"/>
              </c:ext>
            </c:extLst>
          </c:dPt>
          <c:dPt>
            <c:idx val="6"/>
            <c:invertIfNegative val="0"/>
            <c:bubble3D val="0"/>
            <c:spPr>
              <a:solidFill>
                <a:srgbClr val="E155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853-426C-9FDA-2D37F334751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AMD</c:v>
                </c:pt>
                <c:pt idx="1">
                  <c:v>NO</c:v>
                </c:pt>
                <c:pt idx="2">
                  <c:v>DME</c:v>
                </c:pt>
                <c:pt idx="3">
                  <c:v>ERM</c:v>
                </c:pt>
                <c:pt idx="4">
                  <c:v>RVO</c:v>
                </c:pt>
                <c:pt idx="5">
                  <c:v>RAO</c:v>
                </c:pt>
                <c:pt idx="6">
                  <c:v>VID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0.92800000000000005</c:v>
                </c:pt>
                <c:pt idx="1">
                  <c:v>0.75900000000000001</c:v>
                </c:pt>
                <c:pt idx="2">
                  <c:v>0.65</c:v>
                </c:pt>
                <c:pt idx="3">
                  <c:v>0.63</c:v>
                </c:pt>
                <c:pt idx="4">
                  <c:v>0.5</c:v>
                </c:pt>
                <c:pt idx="5">
                  <c:v>0.25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53-426C-9FDA-2D37F33475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71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AD5BE-43E5-4772-9734-B83394F09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F7B4D-813D-4121-B002-CFAE7125979C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871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OCT Retinal Disease Classification Using Graph Neural Networks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4730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265896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</a:rPr>
              <a:t>Submitted By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084413"/>
            <a:ext cx="5251715" cy="726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868" y="3103463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Kaniz Fatema Tuli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4868" y="3527227"/>
            <a:ext cx="50292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2023-1-60-192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103489"/>
            <a:ext cx="5251715" cy="726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868" y="4122539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Jannatul Ferdous Shanta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4868" y="4546302"/>
            <a:ext cx="50292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2022-3-60-167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122565"/>
            <a:ext cx="5251715" cy="726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868" y="5141615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Abira Ahsan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64868" y="5565378"/>
            <a:ext cx="50292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2023-2-60-127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144273" y="2490588"/>
            <a:ext cx="5470785" cy="3522365"/>
          </a:xfrm>
          <a:prstGeom prst="roundRect">
            <a:avLst>
              <a:gd name="adj" fmla="val 704"/>
            </a:avLst>
          </a:prstGeom>
          <a:solidFill>
            <a:srgbClr val="403CCF"/>
          </a:solidFill>
          <a:ln/>
        </p:spPr>
      </p:sp>
      <p:sp>
        <p:nvSpPr>
          <p:cNvPr id="15" name="Text 10"/>
          <p:cNvSpPr/>
          <p:nvPr/>
        </p:nvSpPr>
        <p:spPr>
          <a:xfrm>
            <a:off x="6350139" y="26589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Submitted To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0139" y="3082727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Dr. Raihan Ul Islam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Associate Professor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350139" y="4103886"/>
            <a:ext cx="514019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6350139" y="435024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Area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0139" y="4774009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Multi-class retinal disease classification from Optical Coherence Tomography (OCT) images using Graph Neural Networks, with explainability via SHAP and LIME.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477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Objectives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1475" y="807741"/>
            <a:ext cx="10868745" cy="107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study establishes a complete end-to-end pipeline for retinal disease classification, benchmarking classical machine learning approaches against a novel Graph Neural Network architecture designed to preserve spatial retinal structure.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2" y="2034481"/>
            <a:ext cx="5374644" cy="19476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2545" y="1767708"/>
            <a:ext cx="210835" cy="210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9550" y="2197246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 a Complete Pipeline</a:t>
            </a:r>
            <a:endParaRPr lang="en-US" b="1" dirty="0"/>
          </a:p>
        </p:txBody>
      </p:sp>
      <p:sp>
        <p:nvSpPr>
          <p:cNvPr id="7" name="Text 3"/>
          <p:cNvSpPr/>
          <p:nvPr/>
        </p:nvSpPr>
        <p:spPr>
          <a:xfrm>
            <a:off x="661476" y="2618010"/>
            <a:ext cx="5320522" cy="126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 a full retinal disease classification pipeline using the OCTDL dataset, from raw OCT images through feature extraction to final prediction.</a:t>
            </a: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5576" y="2034482"/>
            <a:ext cx="5374644" cy="193691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2062" y="1761431"/>
            <a:ext cx="210835" cy="2108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69326" y="2141381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 Baselines vs. GNN</a:t>
            </a:r>
            <a:endParaRPr lang="en-US" b="1" dirty="0"/>
          </a:p>
        </p:txBody>
      </p:sp>
      <p:sp>
        <p:nvSpPr>
          <p:cNvPr id="11" name="Text 5"/>
          <p:cNvSpPr/>
          <p:nvPr/>
        </p:nvSpPr>
        <p:spPr>
          <a:xfrm>
            <a:off x="6420533" y="2585881"/>
            <a:ext cx="5055565" cy="123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multiple machine learning baselines — including SVM, XGBoost, LightGBM, MLP, and 1D CNN — against the proposed Graph Neural Network architecture.</a:t>
            </a:r>
            <a:endParaRPr lang="en-US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26685"/>
            <a:ext cx="5320523" cy="1928051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27127" y="3977321"/>
            <a:ext cx="210835" cy="2108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59551" y="4325325"/>
            <a:ext cx="3769650" cy="20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Preserve Spatial Information</a:t>
            </a:r>
            <a:endParaRPr lang="en-US" b="1" dirty="0"/>
          </a:p>
        </p:txBody>
      </p:sp>
      <p:sp>
        <p:nvSpPr>
          <p:cNvPr id="15" name="Text 7"/>
          <p:cNvSpPr/>
          <p:nvPr/>
        </p:nvSpPr>
        <p:spPr>
          <a:xfrm>
            <a:off x="821321" y="4652729"/>
            <a:ext cx="5160678" cy="132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classification performance by retaining the spatial structure of retinal tissue, which is lost in conventional feature-vector approaches.</a:t>
            </a:r>
            <a:endParaRPr lang="en-US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55575" y="4207073"/>
            <a:ext cx="5374644" cy="1947663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2063" y="3961627"/>
            <a:ext cx="210835" cy="2108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634194" y="4335658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Explain Model Decisions</a:t>
            </a:r>
            <a:endParaRPr lang="en-US" b="1" dirty="0"/>
          </a:p>
        </p:txBody>
      </p:sp>
      <p:sp>
        <p:nvSpPr>
          <p:cNvPr id="19" name="Text 9"/>
          <p:cNvSpPr/>
          <p:nvPr/>
        </p:nvSpPr>
        <p:spPr>
          <a:xfrm>
            <a:off x="6420532" y="4753829"/>
            <a:ext cx="5055565" cy="1296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Explainable AI techniques — specifically SHAP and LIME — to interpret and validate model predictions in a clinically meaningful way.</a:t>
            </a:r>
            <a:endParaRPr lang="en-US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7AA5EE8-6752-48A5-BB0D-1E5E05288263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80490"/>
              </p:ext>
            </p:extLst>
          </p:nvPr>
        </p:nvGraphicFramePr>
        <p:xfrm>
          <a:off x="548640" y="1600200"/>
          <a:ext cx="5943600" cy="2148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OCTDL — Optical Coherence Tomography Dataset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Image Classification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(7)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AMD, DME, ERM, NO, RAO, RVO, VID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0A2A4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Subject-Level Split?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52628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patient's images never appear in multiple sets.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502920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010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61872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across train / val / test.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5513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61872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fair, unbiased evaluation.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85800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2,063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418320" y="1600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E8F2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41832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(70%)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858000" y="30175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E8F2F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0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(15%)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418320" y="30175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E8F2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418320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5568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DISEASE CLASSES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6858000" y="452628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0" y="45262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891272" y="452628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891272" y="45262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8924544" y="452628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924544" y="45262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9957816" y="4526280"/>
            <a:ext cx="768096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957816" y="4526280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10890504" y="452628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890504" y="45262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6858000" y="502920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821424" y="500176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RVO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7891272" y="502920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FE8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891272" y="50292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548640" y="6227063"/>
            <a:ext cx="10820095" cy="508145"/>
          </a:xfrm>
          <a:prstGeom prst="roundRect">
            <a:avLst>
              <a:gd name="adj" fmla="val 9412"/>
            </a:avLst>
          </a:prstGeom>
          <a:solidFill>
            <a:srgbClr val="E8F2F7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29343" y="62453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note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2495006" y="6172200"/>
            <a:ext cx="8980714" cy="56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and AMD have the most samples; RAO and RVO are the most under-represented classes.</a:t>
            </a:r>
            <a:endParaRPr lang="en-US" sz="20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3EB27F93-ACF7-4B93-8FAB-757B06BDD8C7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 UNDERSTANDING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Research Gap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corrupted-image removal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54680" y="1947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5848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analysis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24048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(width/height) stats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visualization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28620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verification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429000"/>
            <a:ext cx="5120640" cy="2697480"/>
          </a:xfrm>
          <a:prstGeom prst="roundRect">
            <a:avLst>
              <a:gd name="adj" fmla="val 2712"/>
            </a:avLst>
          </a:prstGeom>
          <a:solidFill>
            <a:srgbClr val="0A2A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069080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0142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retinal disease categories in the dataset.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471416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416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RGB OCT scans.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873752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855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8188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imbalanced overall.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527608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248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and AMD have more samples.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5678424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5623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and RVO contain the fewest samples.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1554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(2022–2026)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698863"/>
              </p:ext>
            </p:extLst>
          </p:nvPr>
        </p:nvGraphicFramePr>
        <p:xfrm>
          <a:off x="5989320" y="1874520"/>
          <a:ext cx="566928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Graph-Fused CNN + ViT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U-Net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0.850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Graph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61.8% ISNT alignment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CNN-ViT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than pure ViT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989320" y="40233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CEEE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30936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309360" y="4617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58368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spatial retinal information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5001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583680" y="5001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feature fusion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309360" y="5385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583680" y="5385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robustness across imaging devices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6309360" y="5769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583680" y="57698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of clinical metadata</a:t>
            </a:r>
            <a:endParaRPr lang="en-US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DAED9235-8C58-4AF0-A848-086F8BBC93BC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199" y="21655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Task 2: Baseline Models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199" y="1188921"/>
            <a:ext cx="4724480" cy="312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 Pipeline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16" y="1605866"/>
            <a:ext cx="620201" cy="744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4641" y="1610839"/>
            <a:ext cx="401131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Subject-Level Split</a:t>
            </a:r>
            <a:endParaRPr lang="en-US" b="1" dirty="0"/>
          </a:p>
        </p:txBody>
      </p:sp>
      <p:sp>
        <p:nvSpPr>
          <p:cNvPr id="6" name="Text 3"/>
          <p:cNvSpPr/>
          <p:nvPr/>
        </p:nvSpPr>
        <p:spPr>
          <a:xfrm>
            <a:off x="1325837" y="1870925"/>
            <a:ext cx="4369078" cy="60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IDs kept separate across all folds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prevent leakage.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99" y="2936073"/>
            <a:ext cx="620201" cy="8820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4641" y="2614041"/>
            <a:ext cx="401131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ResNet-50 Feature Extraction</a:t>
            </a:r>
            <a:endParaRPr lang="en-US" b="1" dirty="0"/>
          </a:p>
        </p:txBody>
      </p:sp>
      <p:sp>
        <p:nvSpPr>
          <p:cNvPr id="9" name="Text 5"/>
          <p:cNvSpPr/>
          <p:nvPr/>
        </p:nvSpPr>
        <p:spPr>
          <a:xfrm>
            <a:off x="1420653" y="2879415"/>
            <a:ext cx="4033371" cy="104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features extracted from pretrained ResNet-50 as input representations.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17" y="4314700"/>
            <a:ext cx="620201" cy="8820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4641" y="4020261"/>
            <a:ext cx="4165794" cy="247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Scaling &amp; Feature Selection</a:t>
            </a:r>
            <a:endParaRPr lang="en-US" b="1" dirty="0"/>
          </a:p>
        </p:txBody>
      </p:sp>
      <p:sp>
        <p:nvSpPr>
          <p:cNvPr id="12" name="Text 7"/>
          <p:cNvSpPr/>
          <p:nvPr/>
        </p:nvSpPr>
        <p:spPr>
          <a:xfrm>
            <a:off x="1420653" y="4314700"/>
            <a:ext cx="4011314" cy="933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StandardScaler normalization, Variance Threshold filtering, and Mutual Information selection applied.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05" y="5624054"/>
            <a:ext cx="620201" cy="8820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4641" y="5350941"/>
            <a:ext cx="4723290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 Balancing</a:t>
            </a:r>
            <a:endParaRPr lang="en-US" b="1" dirty="0"/>
          </a:p>
        </p:txBody>
      </p:sp>
      <p:sp>
        <p:nvSpPr>
          <p:cNvPr id="15" name="Text 9"/>
          <p:cNvSpPr/>
          <p:nvPr/>
        </p:nvSpPr>
        <p:spPr>
          <a:xfrm>
            <a:off x="1420653" y="5611051"/>
            <a:ext cx="4011314" cy="937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Class-weight balancing applied to all models; SMOTE oversampling applied specifically for k-NN.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7628218" y="576468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Models Tested</a:t>
            </a: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5694915" y="918965"/>
            <a:ext cx="5841556" cy="1387106"/>
          </a:xfrm>
          <a:prstGeom prst="roundRect">
            <a:avLst>
              <a:gd name="adj" fmla="val 1660"/>
            </a:avLst>
          </a:prstGeom>
          <a:solidFill>
            <a:srgbClr val="EAE8F3"/>
          </a:solidFill>
          <a:ln/>
        </p:spPr>
      </p:sp>
      <p:sp>
        <p:nvSpPr>
          <p:cNvPr id="18" name="Text 12"/>
          <p:cNvSpPr/>
          <p:nvPr/>
        </p:nvSpPr>
        <p:spPr>
          <a:xfrm>
            <a:off x="5818935" y="1010421"/>
            <a:ext cx="55935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Linear &amp; Kernel</a:t>
            </a:r>
            <a:endParaRPr lang="en-US" b="1" dirty="0"/>
          </a:p>
        </p:txBody>
      </p:sp>
      <p:sp>
        <p:nvSpPr>
          <p:cNvPr id="19" name="Text 13"/>
          <p:cNvSpPr/>
          <p:nvPr/>
        </p:nvSpPr>
        <p:spPr>
          <a:xfrm>
            <a:off x="5896423" y="1307964"/>
            <a:ext cx="5593516" cy="952994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SVM (RBF kernel)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k-Nearest Neighbors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5694915" y="2395235"/>
            <a:ext cx="5841556" cy="1956590"/>
          </a:xfrm>
          <a:prstGeom prst="roundRect">
            <a:avLst>
              <a:gd name="adj" fmla="val 1214"/>
            </a:avLst>
          </a:prstGeom>
          <a:solidFill>
            <a:srgbClr val="EAE8F3"/>
          </a:solidFill>
          <a:ln/>
        </p:spPr>
      </p:sp>
      <p:sp>
        <p:nvSpPr>
          <p:cNvPr id="21" name="Text 15"/>
          <p:cNvSpPr/>
          <p:nvPr/>
        </p:nvSpPr>
        <p:spPr>
          <a:xfrm>
            <a:off x="5818935" y="2404050"/>
            <a:ext cx="55935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Tree-Based</a:t>
            </a:r>
            <a:endParaRPr lang="en-US" b="1" dirty="0"/>
          </a:p>
        </p:txBody>
      </p:sp>
      <p:sp>
        <p:nvSpPr>
          <p:cNvPr id="22" name="Text 16"/>
          <p:cNvSpPr/>
          <p:nvPr/>
        </p:nvSpPr>
        <p:spPr>
          <a:xfrm>
            <a:off x="5818934" y="2665831"/>
            <a:ext cx="5593516" cy="1547144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Tree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 Boosting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 err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LightGBM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5694915" y="4457997"/>
            <a:ext cx="5841556" cy="1062313"/>
          </a:xfrm>
          <a:prstGeom prst="roundRect">
            <a:avLst>
              <a:gd name="adj" fmla="val 2034"/>
            </a:avLst>
          </a:prstGeom>
          <a:solidFill>
            <a:srgbClr val="EAE8F3"/>
          </a:solidFill>
          <a:ln/>
        </p:spPr>
      </p:sp>
      <p:sp>
        <p:nvSpPr>
          <p:cNvPr id="24" name="Text 18"/>
          <p:cNvSpPr/>
          <p:nvPr/>
        </p:nvSpPr>
        <p:spPr>
          <a:xfrm>
            <a:off x="5818935" y="4582021"/>
            <a:ext cx="55935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Neural</a:t>
            </a:r>
            <a:endParaRPr lang="en-US" b="1" dirty="0"/>
          </a:p>
        </p:txBody>
      </p:sp>
      <p:sp>
        <p:nvSpPr>
          <p:cNvPr id="25" name="Text 19"/>
          <p:cNvSpPr/>
          <p:nvPr/>
        </p:nvSpPr>
        <p:spPr>
          <a:xfrm>
            <a:off x="5818935" y="4868763"/>
            <a:ext cx="5593516" cy="379809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(Multi-Layer Perceptron)</a:t>
            </a:r>
            <a:endParaRPr lang="en-US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1D CNN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5712163" y="5663402"/>
            <a:ext cx="5841556" cy="1118102"/>
          </a:xfrm>
          <a:prstGeom prst="roundRect">
            <a:avLst>
              <a:gd name="adj" fmla="val 3228"/>
            </a:avLst>
          </a:prstGeom>
          <a:solidFill>
            <a:srgbClr val="D7D6F5"/>
          </a:solidFill>
          <a:ln/>
        </p:spPr>
      </p:sp>
      <p:sp>
        <p:nvSpPr>
          <p:cNvPr id="28" name="Text 21"/>
          <p:cNvSpPr/>
          <p:nvPr/>
        </p:nvSpPr>
        <p:spPr>
          <a:xfrm>
            <a:off x="5958432" y="5776303"/>
            <a:ext cx="5314519" cy="921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Macro-F1 was chosen as the primary metric to give equal importance to rare disease classes regardless of class frequency.</a:t>
            </a:r>
            <a:endParaRPr lang="en-US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CB87947-040E-4650-8045-1CD4C9FACCF3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3111" y="334163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Task 2-Baseline Performance Results</a:t>
            </a:r>
            <a:endParaRPr lang="en-US" sz="2000" b="1" dirty="0"/>
          </a:p>
        </p:txBody>
      </p:sp>
      <p:sp>
        <p:nvSpPr>
          <p:cNvPr id="3" name="Text 1"/>
          <p:cNvSpPr/>
          <p:nvPr/>
        </p:nvSpPr>
        <p:spPr>
          <a:xfrm>
            <a:off x="933111" y="670117"/>
            <a:ext cx="11370879" cy="65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Top-performing baselines ranked by Macro-F1. </a:t>
            </a:r>
            <a:r>
              <a:rPr lang="en-US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SVM (RBF)</a:t>
            </a: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emerged as the strongest baseline and the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to beat for the proposed GNN.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33285" y="5596948"/>
            <a:ext cx="11036976" cy="1000047"/>
          </a:xfrm>
          <a:prstGeom prst="roundRect">
            <a:avLst>
              <a:gd name="adj" fmla="val 4915"/>
            </a:avLst>
          </a:prstGeom>
          <a:solidFill>
            <a:srgbClr val="D7D6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62" y="5250266"/>
            <a:ext cx="134339" cy="1074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740" y="5596949"/>
            <a:ext cx="10748521" cy="100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Open Sans Bold" pitchFamily="34" charset="-122"/>
                <a:cs typeface="Open Sans Bold" pitchFamily="34" charset="-120"/>
              </a:rPr>
              <a:t>Model to Beat: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+mj-lt"/>
                <a:ea typeface="Open Sans" pitchFamily="34" charset="-122"/>
                <a:cs typeface="Open Sans" pitchFamily="34" charset="-120"/>
              </a:rPr>
              <a:t>SVM achieved the highest Macro-F1 (0.6049), making it the strongest baseline. Macro-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+mj-lt"/>
                <a:ea typeface="Open Sans" pitchFamily="34" charset="-122"/>
                <a:cs typeface="Open Sans" pitchFamily="34" charset="-120"/>
              </a:rPr>
              <a:t>F1 was chosen as the primary metric because it gives equal importance to rare classes. </a:t>
            </a:r>
            <a:r>
              <a:rPr lang="en-US" sz="2000" dirty="0">
                <a:latin typeface="+mj-lt"/>
                <a:ea typeface="Calibri" pitchFamily="34" charset="-122"/>
                <a:cs typeface="Calibri" pitchFamily="34" charset="-120"/>
              </a:rPr>
              <a:t>SVM (RBF) was the 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+mj-lt"/>
                <a:ea typeface="Calibri" pitchFamily="34" charset="-122"/>
                <a:cs typeface="Calibri" pitchFamily="34" charset="-120"/>
              </a:rPr>
              <a:t>strongest classical baseline. The proposed GNN was designed to outperform it.</a:t>
            </a:r>
            <a:endParaRPr lang="en-US" sz="2000" dirty="0">
              <a:latin typeface="+mj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8" name="Text 40">
            <a:extLst>
              <a:ext uri="{FF2B5EF4-FFF2-40B4-BE49-F238E27FC236}">
                <a16:creationId xmlns:a16="http://schemas.microsoft.com/office/drawing/2014/main" id="{733AB982-6D61-45CB-8C30-6E3A3BF99267}"/>
              </a:ext>
            </a:extLst>
          </p:cNvPr>
          <p:cNvSpPr txBox="1"/>
          <p:nvPr/>
        </p:nvSpPr>
        <p:spPr>
          <a:xfrm>
            <a:off x="933111" y="14252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(TOP 5)</a:t>
            </a:r>
            <a:endParaRPr lang="en-US" sz="20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0B818D15-80A3-451A-ADCB-115D2C6FA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402477"/>
              </p:ext>
            </p:extLst>
          </p:nvPr>
        </p:nvGraphicFramePr>
        <p:xfrm>
          <a:off x="5865223" y="1803772"/>
          <a:ext cx="5432875" cy="3446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8D24CAE-6853-477C-8448-C83B6105A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51753"/>
              </p:ext>
            </p:extLst>
          </p:nvPr>
        </p:nvGraphicFramePr>
        <p:xfrm>
          <a:off x="721740" y="1974368"/>
          <a:ext cx="4910861" cy="3108578"/>
        </p:xfrm>
        <a:graphic>
          <a:graphicData uri="http://schemas.openxmlformats.org/drawingml/2006/table">
            <a:tbl>
              <a:tblPr/>
              <a:tblGrid>
                <a:gridCol w="1500541">
                  <a:extLst>
                    <a:ext uri="{9D8B030D-6E8A-4147-A177-3AD203B41FA5}">
                      <a16:colId xmlns:a16="http://schemas.microsoft.com/office/drawing/2014/main" val="2986354598"/>
                    </a:ext>
                  </a:extLst>
                </a:gridCol>
                <a:gridCol w="839463">
                  <a:extLst>
                    <a:ext uri="{9D8B030D-6E8A-4147-A177-3AD203B41FA5}">
                      <a16:colId xmlns:a16="http://schemas.microsoft.com/office/drawing/2014/main" val="3445113809"/>
                    </a:ext>
                  </a:extLst>
                </a:gridCol>
                <a:gridCol w="870943">
                  <a:extLst>
                    <a:ext uri="{9D8B030D-6E8A-4147-A177-3AD203B41FA5}">
                      <a16:colId xmlns:a16="http://schemas.microsoft.com/office/drawing/2014/main" val="359915332"/>
                    </a:ext>
                  </a:extLst>
                </a:gridCol>
                <a:gridCol w="954890">
                  <a:extLst>
                    <a:ext uri="{9D8B030D-6E8A-4147-A177-3AD203B41FA5}">
                      <a16:colId xmlns:a16="http://schemas.microsoft.com/office/drawing/2014/main" val="1850606862"/>
                    </a:ext>
                  </a:extLst>
                </a:gridCol>
                <a:gridCol w="745024">
                  <a:extLst>
                    <a:ext uri="{9D8B030D-6E8A-4147-A177-3AD203B41FA5}">
                      <a16:colId xmlns:a16="http://schemas.microsoft.com/office/drawing/2014/main" val="1728299973"/>
                    </a:ext>
                  </a:extLst>
                </a:gridCol>
              </a:tblGrid>
              <a:tr h="695581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Accuracy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Macro-F1</a:t>
                      </a:r>
                      <a:endParaRPr lang="en-GB" b="1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ROC-AUC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Time (s)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656369"/>
                  </a:ext>
                </a:extLst>
              </a:tr>
              <a:tr h="43473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SVM ⭐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0.7845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0.6049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0.9151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4.10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37604"/>
                  </a:ext>
                </a:extLst>
              </a:tr>
              <a:tr h="42755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XGBoost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0.7744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0.5981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0.8807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6.75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433752"/>
                  </a:ext>
                </a:extLst>
              </a:tr>
              <a:tr h="69558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Gradient Boosting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0.7644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0.5866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0.8567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180.46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833841"/>
                  </a:ext>
                </a:extLst>
              </a:tr>
              <a:tr h="42755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LightGBM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0.7669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0.5772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0.8861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4.76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86843"/>
                  </a:ext>
                </a:extLst>
              </a:tr>
              <a:tr h="42755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MLP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0.7619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0.5794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0.8803</a:t>
                      </a:r>
                      <a:endParaRPr lang="en-GB" b="1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1.15</a:t>
                      </a:r>
                      <a:endParaRPr lang="en-GB" b="1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269497"/>
                  </a:ext>
                </a:extLst>
              </a:tr>
            </a:tbl>
          </a:graphicData>
        </a:graphic>
      </p:graphicFrame>
      <p:sp>
        <p:nvSpPr>
          <p:cNvPr id="13" name="Text 10">
            <a:extLst>
              <a:ext uri="{FF2B5EF4-FFF2-40B4-BE49-F238E27FC236}">
                <a16:creationId xmlns:a16="http://schemas.microsoft.com/office/drawing/2014/main" id="{430FF3E2-F97A-43D7-96E2-8C670AA26D2A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Architecture of our work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4892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Baseline: SVM</a:t>
            </a:r>
            <a:endParaRPr lang="en-US" sz="15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95B4962-CCA5-4F19-8BC4-4F6849776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023"/>
            <a:ext cx="11409287" cy="5610497"/>
          </a:xfrm>
          <a:prstGeom prst="rect">
            <a:avLst/>
          </a:prstGeom>
        </p:spPr>
      </p:pic>
      <p:sp>
        <p:nvSpPr>
          <p:cNvPr id="50" name="Text 10">
            <a:extLst>
              <a:ext uri="{FF2B5EF4-FFF2-40B4-BE49-F238E27FC236}">
                <a16:creationId xmlns:a16="http://schemas.microsoft.com/office/drawing/2014/main" id="{0BAE99BE-2A95-48F1-90B4-6628D75EB793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465" y="565944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Graph Neural Networks?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26343" y="1149053"/>
            <a:ext cx="4970724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Limitations of Baseline Approaches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41" y="1599914"/>
            <a:ext cx="5060415" cy="1562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2187" y="1643460"/>
            <a:ext cx="4696494" cy="364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Spatial Information Lost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72187" y="2075506"/>
            <a:ext cx="4824880" cy="966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OCT image is flattened into a single feature vector. The spatial location of retinal lesions — critical for distinguishing AMD from DME — is entirely discarded after global pooling.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43" y="3324622"/>
            <a:ext cx="5060416" cy="15253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2187" y="3467347"/>
            <a:ext cx="4696494" cy="257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Indistinguishable Lesion Positions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72187" y="3724969"/>
            <a:ext cx="4824880" cy="936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Two lesions in different retinal regions produce similar representations after pooling, making it impossible for the model to reason about where pathology occurs.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343" y="5012036"/>
            <a:ext cx="5060416" cy="1337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3235" y="5198168"/>
            <a:ext cx="4581807" cy="240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1D-CNN Structural Blindness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572187" y="5506443"/>
            <a:ext cx="4824880" cy="842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1D-CNN captures only a single scan line at a time, missing the full 2D retinal structure that defines disease morphology.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602445" y="565944"/>
            <a:ext cx="6017367" cy="5783163"/>
          </a:xfrm>
          <a:prstGeom prst="roundRect">
            <a:avLst>
              <a:gd name="adj" fmla="val 362"/>
            </a:avLst>
          </a:prstGeom>
          <a:solidFill>
            <a:schemeClr val="tx1"/>
          </a:solidFill>
          <a:ln/>
        </p:spPr>
      </p:sp>
      <p:sp>
        <p:nvSpPr>
          <p:cNvPr id="14" name="Text 9"/>
          <p:cNvSpPr/>
          <p:nvPr/>
        </p:nvSpPr>
        <p:spPr>
          <a:xfrm>
            <a:off x="7037480" y="704808"/>
            <a:ext cx="5785995" cy="45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GNN Architectural Advantages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1525" y="1106946"/>
            <a:ext cx="364475" cy="3644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69565" y="1160752"/>
            <a:ext cx="5785995" cy="36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</a:t>
            </a:r>
            <a:r>
              <a:rPr lang="en-US" sz="1600" b="1" dirty="0" err="1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Superpixel</a:t>
            </a: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Graph Construction</a:t>
            </a:r>
            <a:endParaRPr lang="en-US" sz="1600" b="1" dirty="0"/>
          </a:p>
        </p:txBody>
      </p:sp>
      <p:sp>
        <p:nvSpPr>
          <p:cNvPr id="17" name="Text 11"/>
          <p:cNvSpPr/>
          <p:nvPr/>
        </p:nvSpPr>
        <p:spPr>
          <a:xfrm>
            <a:off x="5731525" y="1564094"/>
            <a:ext cx="5785995" cy="5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OCT image is converted into a graph of ~75 superpixels, preserving the spatial arrangement of retinal tissue regions.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8044" y="2224636"/>
            <a:ext cx="451435" cy="4514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25078" y="2345261"/>
            <a:ext cx="5785995" cy="25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Spatial Adjacency Edges</a:t>
            </a:r>
            <a:endParaRPr lang="en-US" sz="1600" b="1" dirty="0"/>
          </a:p>
        </p:txBody>
      </p:sp>
      <p:sp>
        <p:nvSpPr>
          <p:cNvPr id="20" name="Text 13"/>
          <p:cNvSpPr/>
          <p:nvPr/>
        </p:nvSpPr>
        <p:spPr>
          <a:xfrm>
            <a:off x="5688044" y="2816819"/>
            <a:ext cx="5785995" cy="78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Neighboring tissue regions are connected using spatial adjacency, encoding the anatomical relationships between retinal layers.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8130" y="3765549"/>
            <a:ext cx="406391" cy="40640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25078" y="3914490"/>
            <a:ext cx="5785995" cy="25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Message Passing</a:t>
            </a:r>
            <a:endParaRPr lang="en-US" sz="1600" b="1" dirty="0"/>
          </a:p>
        </p:txBody>
      </p:sp>
      <p:sp>
        <p:nvSpPr>
          <p:cNvPr id="23" name="Text 15"/>
          <p:cNvSpPr/>
          <p:nvPr/>
        </p:nvSpPr>
        <p:spPr>
          <a:xfrm>
            <a:off x="5718131" y="4273252"/>
            <a:ext cx="5785995" cy="75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region learns from nearby healthy and diseased tissues through iterative message passing, enabling context-aware classification.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265" y="5072338"/>
            <a:ext cx="421348" cy="4213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73974" y="5211517"/>
            <a:ext cx="5785995" cy="28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Mean + Max Pooling</a:t>
            </a:r>
            <a:endParaRPr lang="en-US" sz="1600" b="1" dirty="0"/>
          </a:p>
        </p:txBody>
      </p:sp>
      <p:sp>
        <p:nvSpPr>
          <p:cNvPr id="26" name="Text 17"/>
          <p:cNvSpPr/>
          <p:nvPr/>
        </p:nvSpPr>
        <p:spPr>
          <a:xfrm>
            <a:off x="5718131" y="5532865"/>
            <a:ext cx="5785995" cy="75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Dual pooling captures both overall tissue context (mean) and localized lesion signals (max), improving detection of AMD, DME, and ERM.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320E1D6A-E0AF-4F0D-8810-44AE15497B44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5DDC3-DF85-420C-95C6-3ED4CD05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2" y="1358538"/>
            <a:ext cx="7044425" cy="4745080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1019D57C-C2C3-41D6-832E-0BD464B94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925193"/>
              </p:ext>
            </p:extLst>
          </p:nvPr>
        </p:nvGraphicFramePr>
        <p:xfrm>
          <a:off x="7558692" y="3429000"/>
          <a:ext cx="4101276" cy="2255520"/>
        </p:xfrm>
        <a:graphic>
          <a:graphicData uri="http://schemas.openxmlformats.org/drawingml/2006/table">
            <a:tbl>
              <a:tblPr/>
              <a:tblGrid>
                <a:gridCol w="1367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GNN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A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2">
            <a:extLst>
              <a:ext uri="{FF2B5EF4-FFF2-40B4-BE49-F238E27FC236}">
                <a16:creationId xmlns:a16="http://schemas.microsoft.com/office/drawing/2014/main" id="{BC48C214-EAE0-4A1B-A710-389AA1AB12AC}"/>
              </a:ext>
            </a:extLst>
          </p:cNvPr>
          <p:cNvSpPr txBox="1"/>
          <p:nvPr/>
        </p:nvSpPr>
        <p:spPr>
          <a:xfrm>
            <a:off x="8033657" y="2674622"/>
            <a:ext cx="3487783" cy="551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BEST </a:t>
            </a:r>
          </a:p>
          <a:p>
            <a:pPr marL="0" indent="0">
              <a:buNone/>
            </a:pPr>
            <a:r>
              <a:rPr lang="en-US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(SVM)</a:t>
            </a:r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545536C-817C-4C74-B32F-DFA2FB3C3444}"/>
              </a:ext>
            </a:extLst>
          </p:cNvPr>
          <p:cNvSpPr txBox="1"/>
          <p:nvPr/>
        </p:nvSpPr>
        <p:spPr>
          <a:xfrm>
            <a:off x="548640" y="583257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 Results Vs Baseline Performance Comparison</a:t>
            </a:r>
            <a:endParaRPr lang="en-US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1BFE70AB-E825-42B8-B515-E7AD6834CDB6}"/>
              </a:ext>
            </a:extLst>
          </p:cNvPr>
          <p:cNvSpPr txBox="1"/>
          <p:nvPr/>
        </p:nvSpPr>
        <p:spPr>
          <a:xfrm>
            <a:off x="548640" y="32289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Task-2 RESULTS</a:t>
            </a:r>
            <a:endParaRPr lang="en-US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0221F09-7C89-43EB-ADBD-742BC9FACD1A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4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527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Task-2 RESULTS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3257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 Results Vs Baseline Performance Comparison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652260" y="945424"/>
            <a:ext cx="5074920" cy="5272496"/>
          </a:xfrm>
          <a:prstGeom prst="roundRect">
            <a:avLst>
              <a:gd name="adj" fmla="val 1441"/>
            </a:avLst>
          </a:prstGeom>
          <a:solidFill>
            <a:srgbClr val="0A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03720" y="1238033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It Improve?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906333" y="1750259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906333" y="17716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7452360" y="174405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Spatial Structure</a:t>
            </a: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7452359" y="2168762"/>
            <a:ext cx="3916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layout is retained through graph message passing rather than flattened.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903720" y="288640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903720" y="28578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910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Region-Level Reasoning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draw on localized superpixel regions, not just global features.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6906333" y="4085497"/>
            <a:ext cx="384048" cy="359311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96862" y="4079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5"/>
          <p:cNvSpPr txBox="1"/>
          <p:nvPr/>
        </p:nvSpPr>
        <p:spPr>
          <a:xfrm>
            <a:off x="7452360" y="41430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Information</a:t>
            </a:r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463096"/>
            <a:ext cx="4023360" cy="74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lets nearby regions inform each other's representation.</a:t>
            </a: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6903720" y="539496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90372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3" name="Text 19"/>
          <p:cNvSpPr txBox="1"/>
          <p:nvPr/>
        </p:nvSpPr>
        <p:spPr>
          <a:xfrm>
            <a:off x="7452360" y="5349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Lesion Handling</a:t>
            </a:r>
            <a:endParaRPr lang="en-US" dirty="0"/>
          </a:p>
        </p:txBody>
      </p:sp>
      <p:sp>
        <p:nvSpPr>
          <p:cNvPr id="24" name="Text 20"/>
          <p:cNvSpPr txBox="1"/>
          <p:nvPr/>
        </p:nvSpPr>
        <p:spPr>
          <a:xfrm>
            <a:off x="7452360" y="5669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9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sensitivity to small, spatially concentrated pathological patterns.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9EF0638-B9A9-43F4-B85D-63B46937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46" y="994737"/>
            <a:ext cx="6118664" cy="5223183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FFDA799C-71E5-4EF6-A278-23C5D8E8726B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DEVELOPMENT</a:t>
            </a:r>
            <a:endParaRPr lang="en-US" sz="1600" b="1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&amp; Model Improvement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7040880" cy="108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the initial GCN (A0), we changed one or two components at a time under a fixed dataset, patient-level split, and early-stopping protocol — using validation Macro-F1 for selection while keeping the test set untouched.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713762"/>
              </p:ext>
            </p:extLst>
          </p:nvPr>
        </p:nvGraphicFramePr>
        <p:xfrm>
          <a:off x="457200" y="2587262"/>
          <a:ext cx="7040880" cy="37490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Macro-F1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GCN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GCN + Regularization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Distance-weighted edges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Fusion (Final Model)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 Graph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Optimizer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LR Scheduler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15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15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6972" y="649224"/>
            <a:ext cx="3794760" cy="329184"/>
          </a:xfrm>
          <a:prstGeom prst="roundRect">
            <a:avLst>
              <a:gd name="adj" fmla="val 16667"/>
            </a:avLst>
          </a:prstGeom>
          <a:solidFill>
            <a:srgbClr val="0A2E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5532" y="6675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67244" y="13624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09560" y="1088136"/>
            <a:ext cx="3611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64→128 hidden units + 2→3 GCN layers gave the largest lift (0.386 → 0.539).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688145" y="22357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09560" y="1997964"/>
            <a:ext cx="37412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 edges pushed performance further (0.539 → 0.608).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708392" y="303972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0416" y="2656333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adjacency beat k-NN graph construction.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680960" y="379900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00416" y="3403855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outperformed both GAT and GraphSAGE on this dataset.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73122" y="471014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09560" y="4334257"/>
            <a:ext cx="3611880" cy="109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ReduceLROnPlateau was most stable; removing the scheduler caused the biggest drop (0.712 → 0.400).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863840" y="5623563"/>
            <a:ext cx="3616452" cy="1014981"/>
          </a:xfrm>
          <a:prstGeom prst="roundRect">
            <a:avLst>
              <a:gd name="adj" fmla="val 11765"/>
            </a:avLst>
          </a:prstGeom>
          <a:solidFill>
            <a:srgbClr val="0A2E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26146" y="5754188"/>
            <a:ext cx="3291840" cy="78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chosen for highest validation Macro-F1 (0.712).</a:t>
            </a:r>
            <a:endParaRPr lang="en-US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8806AA60-496A-419F-A208-881030A4E257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7383" y="18418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DEVELOPMENT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287383" y="423237"/>
            <a:ext cx="969264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Performance: Fair, Leakage-Free 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patient-grouped split for every model.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7972" y="24963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9645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untouched until the final model was selected.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8878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ML: ResNet-50 (ImageNet) features → StandardScaler → SMOTE → classifier.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7673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CNN trained end-to-end under the same protocol.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06759" y="4987399"/>
            <a:ext cx="5240165" cy="1251422"/>
          </a:xfrm>
          <a:prstGeom prst="roundRect">
            <a:avLst>
              <a:gd name="adj" fmla="val 9000"/>
            </a:avLst>
          </a:prstGeom>
          <a:solidFill>
            <a:srgbClr val="D7F2E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267" y="5099086"/>
            <a:ext cx="4879195" cy="99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
</a:t>
            </a: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CNN became the strongest classical baseline.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88477"/>
              </p:ext>
            </p:extLst>
          </p:nvPr>
        </p:nvGraphicFramePr>
        <p:xfrm>
          <a:off x="6326777" y="321346"/>
          <a:ext cx="5577840" cy="273013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CNN 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326777" y="3278777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by Model</a:t>
            </a:r>
            <a:endParaRPr lang="en-US" sz="20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81832760"/>
              </p:ext>
            </p:extLst>
          </p:nvPr>
        </p:nvGraphicFramePr>
        <p:xfrm>
          <a:off x="6326777" y="3730105"/>
          <a:ext cx="5577840" cy="2615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490934"/>
            <a:ext cx="320040" cy="32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EDAF7F4-A001-4895-914A-70ACD3FA9B8F}"/>
              </a:ext>
            </a:extLst>
          </p:cNvPr>
          <p:cNvSpPr txBox="1"/>
          <p:nvPr/>
        </p:nvSpPr>
        <p:spPr>
          <a:xfrm>
            <a:off x="11625943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DEVELOPMENT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Comparison</a:t>
            </a: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23103"/>
              </p:ext>
            </p:extLst>
          </p:nvPr>
        </p:nvGraphicFramePr>
        <p:xfrm>
          <a:off x="548640" y="1417320"/>
          <a:ext cx="6949440" cy="20116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Baseline (Improved CNN)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GNN (A0)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GNN (A3) 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33375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58444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0.281 → 0.531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793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improvement,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GNN → Final GNN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114800" y="342900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0A2E3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14800" y="3584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42793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vs. best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(Improved CNN)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871293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Macro-F1</a:t>
            </a:r>
            <a:endParaRPr lang="en-US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625867499"/>
              </p:ext>
            </p:extLst>
          </p:nvPr>
        </p:nvGraphicFramePr>
        <p:xfrm>
          <a:off x="7818120" y="1191333"/>
          <a:ext cx="3794760" cy="504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5349240"/>
            <a:ext cx="6949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optimized GNN improved Macro-F1 from 0.281 to 0.531 vs. the first GNN, and edged out the strongest baseline — while preserving a fair, leakage-free evaluation.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VALIDATION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&amp; Significance Testing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CROSS-VALIDATION?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DDED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train/test split can favor one model by chance. We used 5-fold StratifiedGroupKFold to check whether the Final GNN consistently outperformed the best baseline — with patient IDs kept separate across folds to prevent leakage.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27632" y="34290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27632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06624" y="34290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06624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85616" y="34290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85616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64608" y="34290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64608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4717651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AFC9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Patients grouped and rotated across 5 folds — never split within a patient.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5087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SETUP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9360" y="20665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9568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patient-grouped folds (1,749 images / 697 patients for train + validation).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27501" y="2993353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298257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retrained from scratch on every fold.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25105" y="396849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5100" y="3803905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across all folds.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25105" y="4676503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516483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with learning-rate scheduling.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8212" y="5490319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5349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validation Macro-F1.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927A4056-F499-46EE-BCED-1B1983EFD6B2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Performance Across 5 Folds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25225"/>
              </p:ext>
            </p:extLst>
          </p:nvPr>
        </p:nvGraphicFramePr>
        <p:xfrm>
          <a:off x="548640" y="1417320"/>
          <a:ext cx="7680960" cy="1737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Baseline (Improved CNN)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 ± 0.052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 ± 0.085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 ± 0.104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GNN (A3)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 ± 0.068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 ± 0.044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 ± 0.066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0A2E36"/>
          </a:solidFill>
          <a:ln/>
        </p:spPr>
      </p:sp>
      <p:sp>
        <p:nvSpPr>
          <p:cNvPr id="4" name="Text 3"/>
          <p:cNvSpPr txBox="1"/>
          <p:nvPr/>
        </p:nvSpPr>
        <p:spPr>
          <a:xfrm>
            <a:off x="54864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86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Macro-F1 advantage (GNN vs. baseline)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297680" y="333756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CEFE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34290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Fold-to-fold variation (±0.066–0.104) is much larger than the +0.002 gap between models</a:t>
            </a:r>
            <a:r>
              <a:rPr lang="en-US" sz="1200" dirty="0">
                <a:solidFill>
                  <a:srgbClr val="7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73737" y="838961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(Mean ± SD)</a:t>
            </a:r>
            <a:endParaRPr lang="en-US" sz="20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3598916006"/>
              </p:ext>
            </p:extLst>
          </p:nvPr>
        </p:nvGraphicFramePr>
        <p:xfrm>
          <a:off x="8534400" y="1376171"/>
          <a:ext cx="3108960" cy="3749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" y="537536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GNN reached the highest average Macro-F1 (0.619) — a marginal edge over the baseline's 0.617 — but the gap is small next to natural fold variation, so a formal significance test is needed before claiming an advantage.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463A4A3-DF9C-4BBF-9DBA-AB663AA4D787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CBC46-5B11-4715-ADE7-67B9613D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927" y="1209397"/>
            <a:ext cx="7229871" cy="564860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9666097-0C3C-4491-B7B1-903AB248C5BA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GNN Confusion matrix</a:t>
            </a:r>
            <a:endParaRPr lang="en-US" sz="30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122B1BF9-2270-418E-A2C9-8CB2E7C8709F}"/>
              </a:ext>
            </a:extLst>
          </p:cNvPr>
          <p:cNvSpPr txBox="1"/>
          <p:nvPr/>
        </p:nvSpPr>
        <p:spPr>
          <a:xfrm>
            <a:off x="1164336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31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91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3 · MODEL VALIDATION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7912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Testing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79120" y="1161288"/>
            <a:ext cx="1106424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B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tested whether the Final GNN's improvement over the Improved CNN baseline was real or due to chance, using two tests for two evaluation settings.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9120" y="2103120"/>
            <a:ext cx="5394960" cy="358444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2441448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8200" y="23865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Wilcoxon Signed-Rank (5-Fold CV)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76255"/>
              </p:ext>
            </p:extLst>
          </p:nvPr>
        </p:nvGraphicFramePr>
        <p:xfrm>
          <a:off x="807720" y="3063240"/>
          <a:ext cx="4937760" cy="1325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7720" y="4649724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F3EFE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960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Result: Not Significant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0772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 Macro-F1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GNN: 0.6194   ·   Improved CNN: 0.6175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48400" y="2112264"/>
            <a:ext cx="5394960" cy="358444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61611" y="2277509"/>
            <a:ext cx="5251269" cy="502920"/>
          </a:xfrm>
          <a:prstGeom prst="roundRect">
            <a:avLst>
              <a:gd name="adj" fmla="val 18182"/>
            </a:avLst>
          </a:prstGeom>
          <a:solidFill>
            <a:srgbClr val="0A2E3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18365" y="2366010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Exact McNemar (Held-out Test Set)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405408"/>
              </p:ext>
            </p:extLst>
          </p:nvPr>
        </p:nvGraphicFramePr>
        <p:xfrm>
          <a:off x="6477000" y="2769326"/>
          <a:ext cx="4937760" cy="18288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Baseline-only Correct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GNN-only Correct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Discordant Pairs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0.4583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361611" y="4626864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F3EF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18365" y="4649724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Result: Not Significant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361611" y="5120640"/>
            <a:ext cx="52512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C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McNemar used only for the shared held-out test set.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594360" y="5879592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reach the same conclusion: although the Final GNN scored slightly higher, the improvement is not statistically significant at α = 0.05.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48768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B22A342D-A94B-4FDD-81D3-02FE2A83C8E4}"/>
              </a:ext>
            </a:extLst>
          </p:cNvPr>
          <p:cNvSpPr txBox="1"/>
          <p:nvPr/>
        </p:nvSpPr>
        <p:spPr>
          <a:xfrm>
            <a:off x="1164336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2918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20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3 · DIAGNOSTICS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85216" y="585215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Diagnostics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85216" y="124358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C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Final GNN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13421406"/>
              </p:ext>
            </p:extLst>
          </p:nvPr>
        </p:nvGraphicFramePr>
        <p:xfrm>
          <a:off x="585216" y="1655063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54696" y="1655063"/>
            <a:ext cx="3794760" cy="329184"/>
          </a:xfrm>
          <a:prstGeom prst="roundRect">
            <a:avLst>
              <a:gd name="adj" fmla="val 16667"/>
            </a:avLst>
          </a:prstGeom>
          <a:solidFill>
            <a:srgbClr val="0A2E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54696" y="1655063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854696" y="221284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65008" y="2103119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B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AMD achieved the best performance (F1 = 0.928).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54696" y="299008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65008" y="2880359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B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was also classified accurately (F1 = 0.759).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854696" y="376732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65008" y="3657599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B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— RAO, RVO, VID — showed weaker performance due to limited training samples.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813548" y="493775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65008" y="4782310"/>
            <a:ext cx="3611880" cy="1042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B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 was the most challenging class, with no correct predictions on the test set.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0348" y="6163054"/>
            <a:ext cx="10251078" cy="518595"/>
          </a:xfrm>
          <a:prstGeom prst="roundRect">
            <a:avLst>
              <a:gd name="adj" fmla="val 8889"/>
            </a:avLst>
          </a:prstGeom>
          <a:solidFill>
            <a:srgbClr val="FCEFE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0165" y="6199631"/>
            <a:ext cx="9921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A4A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remains the model's core limitation for rare retinal conditions.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81AD890-3A3F-4294-AF3C-70D27DF7CE4F}"/>
              </a:ext>
            </a:extLst>
          </p:cNvPr>
          <p:cNvSpPr txBox="1"/>
          <p:nvPr/>
        </p:nvSpPr>
        <p:spPr>
          <a:xfrm>
            <a:off x="11649456" y="6345935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DIAGNOSTICS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(SHAP + LIME)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were used to understand why the Final GNN made its predictions — explanations were generated for the highest-confidence correct prediction (RAO) and the highest-confidence wrong prediction (RVO → NO).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980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97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important superpixels that influenced each prediction.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6667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5661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RAO prediction: focus centered on abnormal retinal regions.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5354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4348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RVO prediction: overemphasized normal-looking tissue.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659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A2E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27980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697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region's positive and negative contribution to the prediction.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36667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35661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same important regions identified by LIME.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46520" y="45354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44348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the misclassified RVO image received weak evidence for its true class.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2E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made the Final GNN's decisions more interpretable by showing which retinal regions influenced both correct and incorrect predictions.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2092CFE4-162B-4989-812B-20AB02668957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905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294529" y="18836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Rare-Class Recognition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328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RAO, RVO, and VID, which have limited test samples and drive performance variability.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17136" y="18013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8665" y="17935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071001" y="18013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Explainability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69748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LIME and SHAP across many samples from all disease classes, not just one correct/incorrect case.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18013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906256" y="181051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69748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Final GNN on external datasets and different imaging devices / settings.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8313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3499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1333718" y="379606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Design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251960"/>
            <a:ext cx="33649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alternative graph-construction and GNN strategies to improve spatial representation.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15968" y="363016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17136" y="38313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0377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5018749" y="38039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Imbalance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4458353" y="4270248"/>
            <a:ext cx="3222607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methods that reduce sensitivity to class imbalance for underrepresented diseases.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083296" y="363016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4464" y="38313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0216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8822784" y="38862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Validation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8182573" y="4306824"/>
            <a:ext cx="326571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larger, more diverse datasets for more reliable estimates of model performance.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i="1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directions follow directly from the report's limitations and discussion — particularly its emphasis on rare classes, broader explainability, and external / device generalization.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C7A8C"/>
                </a:solidFill>
                <a:latin typeface="Calibri" pitchFamily="34" charset="0"/>
                <a:cs typeface="Calibri" pitchFamily="34" charset="-120"/>
              </a:rPr>
              <a:t>20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SUMMARY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55171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0F3E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FC9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Final GNN (A3)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0F3E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186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0.531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FC9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Macro-F1, vs. 0.524 baseline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3A2A1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731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0.619 vs 0.617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8CB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5-fold CV Macro-F1 — not statistically significant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51960" y="166420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98848" y="1545336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a patient-grouped, leakage-free evaluation pipeline for multi-class OCT disease classification.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24231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98848" y="230428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GNN (A3) performed competitively against the Improved CNN baseline.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51960" y="31821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98848" y="30632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Ablation analysis showed the value of regularization, distance-weighted spatial edges, global-image fusion, AdamW, and LR scheduling.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51960" y="394106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98848" y="382219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provided interpretable visual explanations for both correct and incorrect predictions.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51960" y="47000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98848" y="458114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AF5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remaining challenge is reliable classification of rare disease classes — RAO, RVO, and VID.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51960" y="5532120"/>
            <a:ext cx="7360920" cy="1005840"/>
          </a:xfrm>
          <a:prstGeom prst="roundRect">
            <a:avLst>
              <a:gd name="adj" fmla="val 9474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5532120"/>
            <a:ext cx="6949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A2E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GNN is best characterized as a competitive and interpretable approach — rather than a statistically proven improvement over the baseline.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FA09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0DDDB6E-6F61-4AF0-A1D0-510BE2086E28}"/>
              </a:ext>
            </a:extLst>
          </p:cNvPr>
          <p:cNvSpPr txBox="1"/>
          <p:nvPr/>
        </p:nvSpPr>
        <p:spPr>
          <a:xfrm>
            <a:off x="4251960" y="34747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Competitive, Interpretable Approach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8BBEE89A-EA38-4BD2-96CF-56652C392DA8}"/>
              </a:ext>
            </a:extLst>
          </p:cNvPr>
          <p:cNvSpPr txBox="1"/>
          <p:nvPr/>
        </p:nvSpPr>
        <p:spPr>
          <a:xfrm>
            <a:off x="11612880" y="6382512"/>
            <a:ext cx="33963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B243EB09-34BF-408D-8CF6-3E69F57F881C}"/>
              </a:ext>
            </a:extLst>
          </p:cNvPr>
          <p:cNvSpPr txBox="1"/>
          <p:nvPr/>
        </p:nvSpPr>
        <p:spPr>
          <a:xfrm>
            <a:off x="1813560" y="3050176"/>
            <a:ext cx="8911046" cy="1665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7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2310</Words>
  <Application>Microsoft Office PowerPoint</Application>
  <PresentationFormat>Widescreen</PresentationFormat>
  <Paragraphs>480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Open Sans Bold</vt:lpstr>
      <vt:lpstr>Arial</vt:lpstr>
      <vt:lpstr>Open Sans</vt:lpstr>
      <vt:lpstr>Calibri Light</vt:lpstr>
      <vt:lpstr>Times New Roman</vt:lpstr>
      <vt:lpstr>Libre Baskerville</vt:lpstr>
      <vt:lpstr>Cambria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Jannatul Ferdous Shanta</cp:lastModifiedBy>
  <cp:revision>3</cp:revision>
  <dcterms:created xsi:type="dcterms:W3CDTF">2026-08-28T09:18:29Z</dcterms:created>
  <dcterms:modified xsi:type="dcterms:W3CDTF">2026-08-28T13:33:51Z</dcterms:modified>
</cp:coreProperties>
</file>